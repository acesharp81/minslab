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9" r:id="rId4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63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C596-5ADB-48A4-085E-72C1BCF6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EA873-CD7B-0A50-025B-2293499E9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C15A2-A060-2B06-82FF-E9EF65CB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C085B-7ABD-1D73-64D5-E113DA419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73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74B9-1AC0-B6F9-BD3F-9331F4A9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51CE66-C793-7D26-D1E8-8D50ADA886B7}"/>
              </a:ext>
            </a:extLst>
          </p:cNvPr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EEE1FF-21D5-2A9D-0DB8-4C912BE4B695}"/>
              </a:ext>
            </a:extLst>
          </p:cNvPr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FEB426-3761-0C11-6672-F5D9168864C5}"/>
              </a:ext>
            </a:extLst>
          </p:cNvPr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6E6C66-CCF2-EFB3-0E55-C8720CB0AB69}"/>
              </a:ext>
            </a:extLst>
          </p:cNvPr>
          <p:cNvSpPr/>
          <p:nvPr/>
        </p:nvSpPr>
        <p:spPr>
          <a:xfrm>
            <a:off x="1670817" y="756202"/>
            <a:ext cx="2743200" cy="3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문제 펼치기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E2F219-A651-8B3A-C7E5-B61AEAA66B7C}"/>
              </a:ext>
            </a:extLst>
          </p:cNvPr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2F0A8A92-807E-1CCE-4906-2A9B5A625B12}"/>
              </a:ext>
            </a:extLst>
          </p:cNvPr>
          <p:cNvSpPr/>
          <p:nvPr/>
        </p:nvSpPr>
        <p:spPr>
          <a:xfrm>
            <a:off x="584160" y="1381099"/>
            <a:ext cx="8229600" cy="817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16171A"/>
                </a:solidFill>
                <a:latin typeface="Noto Sans KR Bold"/>
                <a:ea typeface="Noto Sans KR Bold"/>
              </a:rPr>
              <a:t>주택공급 정보의 흐름을,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16171A"/>
                </a:solidFill>
                <a:latin typeface="Noto Sans KR Bold"/>
                <a:ea typeface="Noto Sans KR Bold"/>
              </a:rPr>
              <a:t>단계로 펼쳐봅시다.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0B7192C-46D2-FD74-958D-EACC6EAD0B09}"/>
              </a:ext>
            </a:extLst>
          </p:cNvPr>
          <p:cNvSpPr/>
          <p:nvPr/>
        </p:nvSpPr>
        <p:spPr>
          <a:xfrm>
            <a:off x="713702" y="2546229"/>
            <a:ext cx="1770823" cy="896112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100584" tIns="91440" rIns="73152" bIns="45720"/>
          <a:lstStyle/>
          <a:p>
            <a:pPr algn="l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① 계획 수립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기관별로 따로 관리</a:t>
            </a: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A7538D13-2490-F7F4-FAE4-6B2AC7FC5C76}"/>
              </a:ext>
            </a:extLst>
          </p:cNvPr>
          <p:cNvSpPr/>
          <p:nvPr/>
        </p:nvSpPr>
        <p:spPr>
          <a:xfrm>
            <a:off x="2644180" y="2546229"/>
            <a:ext cx="1770823" cy="896112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100584" tIns="91440" rIns="73152" bIns="45720"/>
          <a:lstStyle/>
          <a:p>
            <a:pPr algn="l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② 인허가·착공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일정 지연을 늦게 파악</a:t>
            </a: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F9AC5936-B12D-DF9D-A6D7-050ED15D162E}"/>
              </a:ext>
            </a:extLst>
          </p:cNvPr>
          <p:cNvSpPr/>
          <p:nvPr/>
        </p:nvSpPr>
        <p:spPr>
          <a:xfrm>
            <a:off x="4574658" y="2546229"/>
            <a:ext cx="1770823" cy="896112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100584" tIns="91440" rIns="73152" bIns="45720"/>
          <a:lstStyle/>
          <a:p>
            <a:pPr algn="l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③ 분양·모집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공고가 수십 장 PDF</a:t>
            </a: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75033552-4CC9-CA86-53BC-926211826C89}"/>
              </a:ext>
            </a:extLst>
          </p:cNvPr>
          <p:cNvSpPr/>
          <p:nvPr/>
        </p:nvSpPr>
        <p:spPr>
          <a:xfrm>
            <a:off x="6505136" y="2546229"/>
            <a:ext cx="1770823" cy="896112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100584" tIns="91440" rIns="73152" bIns="45720"/>
          <a:lstStyle/>
          <a:p>
            <a:pPr algn="l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④ 준공·입주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진행 현황이 한곳에 없음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695DFE51-793F-E932-8CF3-70BA41EB8304}"/>
              </a:ext>
            </a:extLst>
          </p:cNvPr>
          <p:cNvSpPr/>
          <p:nvPr/>
        </p:nvSpPr>
        <p:spPr>
          <a:xfrm>
            <a:off x="8435614" y="2546228"/>
            <a:ext cx="1770823" cy="896112"/>
          </a:xfrm>
          <a:prstGeom prst="roundRect">
            <a:avLst>
              <a:gd name="adj" fmla="val 17608"/>
            </a:avLst>
          </a:prstGeom>
          <a:solidFill>
            <a:srgbClr val="FCEEEA"/>
          </a:solidFill>
          <a:ln w="6350">
            <a:solidFill>
              <a:srgbClr val="E260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100584" tIns="91440" rIns="73152" bIns="45720"/>
          <a:lstStyle/>
          <a:p>
            <a:pPr algn="l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⑤ 국민 체감</a:t>
            </a:r>
          </a:p>
          <a:p>
            <a:pPr algn="l" marL="0" indent="0">
              <a:lnSpc>
                <a:spcPct val="108000"/>
              </a:lnSpc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내 지역·자격을 알기 어려움</a:t>
            </a: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FEB0D0CF-B063-9785-5952-503681C3CC7E}"/>
              </a:ext>
            </a:extLst>
          </p:cNvPr>
          <p:cNvSpPr/>
          <p:nvPr/>
        </p:nvSpPr>
        <p:spPr>
          <a:xfrm>
            <a:off x="748010" y="3637848"/>
            <a:ext cx="7482461" cy="234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96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여기서 </a:t>
            </a:r>
            <a:r>
              <a:rPr lang="ko-KR" alt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우리팀은</a:t>
            </a: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 어디를 해결 하고자 하나요</a:t>
            </a:r>
            <a:r>
              <a:rPr lang="en-US" altLang="ko-KR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?</a:t>
            </a:r>
            <a:endParaRPr lang="en-US" sz="1400" b="1" dirty="0">
              <a:solidFill>
                <a:srgbClr val="000000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D867B74E-34B6-78BE-22FA-22F5DB37845B}"/>
              </a:ext>
            </a:extLst>
          </p:cNvPr>
          <p:cNvSpPr/>
          <p:nvPr/>
        </p:nvSpPr>
        <p:spPr>
          <a:xfrm>
            <a:off x="885611" y="3972787"/>
            <a:ext cx="9622277" cy="2677843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5874C8F0-524B-BB50-DF15-306A4404E5E5}"/>
              </a:ext>
            </a:extLst>
          </p:cNvPr>
          <p:cNvSpPr/>
          <p:nvPr/>
        </p:nvSpPr>
        <p:spPr>
          <a:xfrm>
            <a:off x="1051560" y="4087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해결 지점  </a:t>
            </a:r>
            <a:r>
              <a:rPr lang="ko-KR" altLang="en-US" sz="1250" b="1" dirty="0">
                <a:solidFill>
                  <a:srgbClr val="16171A"/>
                </a:solidFill>
                <a:latin typeface="Noto Sans KR Bold"/>
                <a:ea typeface="Noto Sans KR Bold"/>
              </a:rPr>
              <a:t>②~④에 흩어진 공식 데이터를 한 화면에 모으고(정책 담당자), ⑤에서 국민이 내 지역 진행 상황을 이해하게 한다(국민).</a:t>
            </a:r>
          </a:p>
        </p:txBody>
      </p:sp>
      <p:sp>
        <p:nvSpPr>
          <p:cNvPr id="51" name="할 것"/>
          <p:cNvSpPr txBox="1"/>
          <p:nvPr/>
        </p:nvSpPr>
        <p:spPr>
          <a:xfrm>
            <a:off x="1051560" y="4645152"/>
            <a:ext cx="4480560" cy="19202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16171A"/>
                </a:solidFill>
                <a:latin typeface="Noto Sans KR Bold"/>
                <a:ea typeface="Noto Sans KR Bold"/>
              </a:rPr>
              <a:t>이번 POC에서 할 것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SH·LH·국방부(군인 특공) 공급 데이터 수집·표준화 (API·크롤링·공고 PDF)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계획→실행예정→진행중→완료 현황판과 일정 지연 신호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가상 기관을 설정해 담당자 데이터 입력 시연</a:t>
            </a:r>
          </a:p>
          <a:p>
            <a:pPr algn="l" marL="182880" indent="-18288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자연어 질문에 근거를 붙여 답하는 브리핑·안내</a:t>
            </a:r>
          </a:p>
        </p:txBody>
      </p:sp>
      <p:sp>
        <p:nvSpPr>
          <p:cNvPr id="52" name="하지 않을 것"/>
          <p:cNvSpPr txBox="1"/>
          <p:nvPr/>
        </p:nvSpPr>
        <p:spPr>
          <a:xfrm>
            <a:off x="5806440" y="4645152"/>
            <a:ext cx="4480560" cy="19202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16171A"/>
                </a:solidFill>
                <a:latin typeface="Noto Sans KR Bold"/>
                <a:ea typeface="Noto Sans KR Bold"/>
              </a:rPr>
              <a:t>이번에는 하지 않을 것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자격 자동 판정: 해당될 수 있는 후보만 안내, 판단은 본인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민간 건설사·재개발 데이터: 공공 부문이 1순위, 향후 확장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청약 신청·접수: 마이홈·청약홈으로 연결</a:t>
            </a:r>
          </a:p>
          <a:p>
            <a:pPr algn="l" marL="182880" indent="-18288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전 기관 확대: GH·지자체는 단계적으로 확장</a:t>
            </a:r>
          </a:p>
        </p:txBody>
      </p:sp>
    </p:spTree>
    <p:extLst>
      <p:ext uri="{BB962C8B-B14F-4D97-AF65-F5344CB8AC3E}">
        <p14:creationId xmlns:p14="http://schemas.microsoft.com/office/powerpoint/2010/main" val="215347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/>
          <p:cNvSpPr/>
          <p:nvPr/>
        </p:nvSpPr>
        <p:spPr>
          <a:xfrm>
            <a:off x="1670817" y="756202"/>
            <a:ext cx="2743200" cy="3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문제 정의</a:t>
            </a:r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EBFF660-78CC-5C1E-5FFD-BB4479028AF3}"/>
              </a:ext>
            </a:extLst>
          </p:cNvPr>
          <p:cNvSpPr/>
          <p:nvPr/>
        </p:nvSpPr>
        <p:spPr>
          <a:xfrm>
            <a:off x="584160" y="1243230"/>
            <a:ext cx="11302034" cy="43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20"/>
              </a:lnSpc>
            </a:pPr>
            <a:r>
              <a:rPr lang="ko-KR" altLang="en-US" sz="24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우리 팀이 풀려고 하는 문제</a:t>
            </a:r>
            <a:endParaRPr lang="en-US" sz="24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27DBF38-C96A-0869-72A8-15AD4EA8252C}"/>
              </a:ext>
            </a:extLst>
          </p:cNvPr>
          <p:cNvSpPr/>
          <p:nvPr/>
        </p:nvSpPr>
        <p:spPr>
          <a:xfrm>
            <a:off x="584160" y="1681861"/>
            <a:ext cx="11302034" cy="4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E2604A"/>
                </a:solidFill>
                <a:latin typeface="Noto Sans KR Bold"/>
                <a:ea typeface="Noto Sans KR Bold"/>
              </a:rPr>
              <a:t>흩어진 공급 정보 탓에 지연은 늦게 보이고, 국민은 진행 상황을 알 수 없다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4763B73-DC88-BBBD-1E08-04A8E90AFB74}"/>
              </a:ext>
            </a:extLst>
          </p:cNvPr>
          <p:cNvSpPr/>
          <p:nvPr/>
        </p:nvSpPr>
        <p:spPr>
          <a:xfrm>
            <a:off x="612773" y="2220974"/>
            <a:ext cx="3515797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8B56CFA-A811-6A06-5B61-C127F3EFBC98}"/>
              </a:ext>
            </a:extLst>
          </p:cNvPr>
          <p:cNvSpPr/>
          <p:nvPr/>
        </p:nvSpPr>
        <p:spPr>
          <a:xfrm>
            <a:off x="869364" y="2477564"/>
            <a:ext cx="3092694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① 첫 사용자</a:t>
            </a:r>
            <a:endParaRPr lang="en-US" sz="15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2F5D90B-53EA-4346-7172-8A6ECD9FA2B8}"/>
              </a:ext>
            </a:extLst>
          </p:cNvPr>
          <p:cNvSpPr/>
          <p:nvPr/>
        </p:nvSpPr>
        <p:spPr>
          <a:xfrm>
            <a:off x="869364" y="2833157"/>
            <a:ext cx="3092694" cy="48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우리 결과물을 실제로 </a:t>
            </a:r>
            <a:r>
              <a:rPr lang="en-US" sz="1200" dirty="0" err="1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써보고</a:t>
            </a: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 </a:t>
            </a:r>
            <a:r>
              <a:rPr lang="ko-KR" alt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평가를 해줄 대상은 누구입니까</a:t>
            </a:r>
            <a:r>
              <a:rPr lang="en-US" altLang="ko-KR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BFFE8E3-4873-52E1-2C25-4080EB1196DA}"/>
              </a:ext>
            </a:extLst>
          </p:cNvPr>
          <p:cNvSpPr/>
          <p:nvPr/>
        </p:nvSpPr>
        <p:spPr>
          <a:xfrm>
            <a:off x="869364" y="3401568"/>
            <a:ext cx="30906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정책 담당자</a:t>
            </a:r>
          </a:p>
          <a:p>
            <a:pPr algn="l" marL="182880" indent="-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국무조정실 등에서 사업별 진행·지연을 점검하는 담당자, 데이터를 입력하는 기관 실무자</a:t>
            </a:r>
          </a:p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일반 국민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내 지역 공급사업과 모집 일정이 궁금한 청년·신혼부부·무주택자</a:t>
            </a:r>
          </a:p>
          <a:p>
            <a:pPr algn="l" marL="182880" indent="-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군인 등 수요자 유형별 특별공급 대상</a:t>
            </a:r>
          </a:p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POC 시연 평가</a:t>
            </a:r>
          </a:p>
          <a:p>
            <a:pPr algn="l" marL="182880" indent="-18288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담당자 1인 시나리오와 국민 1인 시나리오로 확인</a:t>
            </a: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6BE9C90-23F4-35BC-F94E-2680B5BE5BC0}"/>
              </a:ext>
            </a:extLst>
          </p:cNvPr>
          <p:cNvSpPr/>
          <p:nvPr/>
        </p:nvSpPr>
        <p:spPr>
          <a:xfrm>
            <a:off x="4338078" y="2220974"/>
            <a:ext cx="3515843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BCAE34A-DB3E-76E3-8CFC-A02436BF7874}"/>
              </a:ext>
            </a:extLst>
          </p:cNvPr>
          <p:cNvSpPr/>
          <p:nvPr/>
        </p:nvSpPr>
        <p:spPr>
          <a:xfrm>
            <a:off x="4594669" y="2477564"/>
            <a:ext cx="309274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② 불편한 장면</a:t>
            </a:r>
            <a:endParaRPr lang="en-US" sz="15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D946C5A-B944-BCE2-BF90-92EB98C1DEA1}"/>
              </a:ext>
            </a:extLst>
          </p:cNvPr>
          <p:cNvSpPr/>
          <p:nvPr/>
        </p:nvSpPr>
        <p:spPr>
          <a:xfrm>
            <a:off x="4594669" y="2833157"/>
            <a:ext cx="3092741" cy="25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언제, 어떤 일을 하다가, 무엇 때문에 막힙니까?</a:t>
            </a:r>
            <a:endParaRPr lang="en-US" sz="12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FDCC10C-969F-FD42-36F0-B66FF861DA54}"/>
              </a:ext>
            </a:extLst>
          </p:cNvPr>
          <p:cNvSpPr/>
          <p:nvPr/>
        </p:nvSpPr>
        <p:spPr>
          <a:xfrm>
            <a:off x="4594669" y="3401568"/>
            <a:ext cx="30906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정책 담당자</a:t>
            </a:r>
          </a:p>
          <a:p>
            <a:pPr algn="l" marL="182880" indent="-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기관·부처별로 따로 보고받아 전체 진행을 한눈에 보기 어렵고, 입력이 하루~수주 늦어 지연 징후가 늦게 보임</a:t>
            </a:r>
          </a:p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일반 국민</a:t>
            </a:r>
          </a:p>
          <a:p>
            <a:pPr algn="l" marL="182880" indent="-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수십 장 분양공고 PDF를 읽고 자격을 직접 판단, 민간 정보는 출처가 불분명</a:t>
            </a:r>
          </a:p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기존 서비스의 한계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마이홈포털: 모집공고 중심, 사업 진행·지연 메뉴는 확인되지 않음</a:t>
            </a:r>
          </a:p>
          <a:p>
            <a:pPr algn="l" marL="182880" indent="-18288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KB부동산 데이터허브: 집계 통계라 사업·기관 단위 추적이 어려움</a:t>
            </a: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8FAFDACC-9E67-E21F-3732-7C2CE04D4C77}"/>
              </a:ext>
            </a:extLst>
          </p:cNvPr>
          <p:cNvSpPr/>
          <p:nvPr/>
        </p:nvSpPr>
        <p:spPr>
          <a:xfrm>
            <a:off x="8063428" y="2220974"/>
            <a:ext cx="3515843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7710938D-CA7F-3671-F3D1-E82E56429E58}"/>
              </a:ext>
            </a:extLst>
          </p:cNvPr>
          <p:cNvSpPr/>
          <p:nvPr/>
        </p:nvSpPr>
        <p:spPr>
          <a:xfrm>
            <a:off x="8320020" y="2477564"/>
            <a:ext cx="309274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③ 달라질 행동</a:t>
            </a:r>
            <a:endParaRPr lang="en-US" sz="15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A964B75-AA2A-E9BB-37A7-02DADA98E440}"/>
              </a:ext>
            </a:extLst>
          </p:cNvPr>
          <p:cNvSpPr/>
          <p:nvPr/>
        </p:nvSpPr>
        <p:spPr>
          <a:xfrm>
            <a:off x="8320020" y="2833157"/>
            <a:ext cx="3092741" cy="25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사용 전후에 어떤 단계가 줄거나 쉬워집니까?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38EA7D2-20A8-A789-46E7-35AA54E2AA62}"/>
              </a:ext>
            </a:extLst>
          </p:cNvPr>
          <p:cNvSpPr/>
          <p:nvPr/>
        </p:nvSpPr>
        <p:spPr>
          <a:xfrm>
            <a:off x="8320020" y="3401568"/>
            <a:ext cx="30906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정책 담당자</a:t>
            </a:r>
          </a:p>
          <a:p>
            <a:pPr algn="l" marL="182880" indent="-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계획 대비 실적, 지연 사업, 향후 3·6·12개월 물량을 한 화면에서 보고 지연 사업부터 드릴다운</a:t>
            </a:r>
          </a:p>
          <a:p>
            <a:pPr algn="l" marL="0" indent="0">
              <a:lnSpc>
                <a:spcPct val="115000"/>
              </a:lnSpc>
              <a:spcAft>
                <a:spcPts val="100"/>
              </a:spcAft>
              <a:buNone/>
            </a:pPr>
            <a:r>
              <a:rPr lang="ko-KR" altLang="en-US" sz="1150" b="1" dirty="0">
                <a:solidFill>
                  <a:srgbClr val="16171A"/>
                </a:solidFill>
                <a:latin typeface="Noto Sans KR Bold"/>
                <a:ea typeface="Noto Sans KR Bold"/>
              </a:rPr>
              <a:t>일반 국민</a:t>
            </a:r>
          </a:p>
          <a:p>
            <a:pPr algn="l" marL="182880" indent="-182880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내 지역 사업 단계와 다음 일정을 확인</a:t>
            </a:r>
          </a:p>
          <a:p>
            <a:pPr algn="l" marL="182880" indent="-18288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자연어로 한 번 묻고, 해당될 수 있는 후보와 근거 공고를 확인 (추가 질문 5개 이내, 판단은 본인)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/>
          <p:cNvSpPr/>
          <p:nvPr/>
        </p:nvSpPr>
        <p:spPr>
          <a:xfrm>
            <a:off x="1670817" y="770195"/>
            <a:ext cx="4572000" cy="29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사용자흐름(UX) 시나리오</a:t>
            </a:r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6400" y="1285112"/>
            <a:ext cx="11720548" cy="27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STEP 3.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</a:t>
            </a: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흐름</a:t>
            </a:r>
            <a:r>
              <a:rPr 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(UX)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시나리오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 (질문·수치는 예시)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535" y="1714977"/>
            <a:ext cx="5676936" cy="4784240"/>
          </a:xfrm>
          <a:prstGeom prst="rect">
            <a:avLst/>
          </a:prstGeom>
          <a:noFill/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2157" y="1717599"/>
            <a:ext cx="5671693" cy="4521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044" y="1844584"/>
            <a:ext cx="5527919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USER 정의 1 · 정책 담당자 / 기관 실무자</a:t>
            </a:r>
          </a:p>
        </p:txBody>
      </p:sp>
      <p:sp>
        <p:nvSpPr>
          <p:cNvPr id="13" name="Shape 11"/>
          <p:cNvSpPr/>
          <p:nvPr/>
        </p:nvSpPr>
        <p:spPr>
          <a:xfrm>
            <a:off x="412157" y="2169699"/>
            <a:ext cx="5671693" cy="432689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05501" y="1714977"/>
            <a:ext cx="5676936" cy="4784240"/>
          </a:xfrm>
          <a:prstGeom prst="rect">
            <a:avLst/>
          </a:prstGeom>
          <a:noFill/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08123" y="1717599"/>
            <a:ext cx="5671693" cy="4521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80010" y="1844584"/>
            <a:ext cx="5527919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USER 정의 2 · 일반 국민</a:t>
            </a:r>
          </a:p>
        </p:txBody>
      </p:sp>
      <p:sp>
        <p:nvSpPr>
          <p:cNvPr id="17" name="Shape 15"/>
          <p:cNvSpPr/>
          <p:nvPr/>
        </p:nvSpPr>
        <p:spPr>
          <a:xfrm>
            <a:off x="6108123" y="2169699"/>
            <a:ext cx="5671693" cy="4326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USER1 흐름"/>
          <p:cNvSpPr txBox="1"/>
          <p:nvPr/>
        </p:nvSpPr>
        <p:spPr>
          <a:xfrm>
            <a:off x="566928" y="2286000"/>
            <a:ext cx="5394960" cy="32461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주택공급 진행을 점검하는 담당자와 데이터를 입력하는 기관 실무자 (POC는 가상 기관 사용)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통합 상황판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계획 대비 실적을 정상·주의·지연 물량으로 한눈에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신호판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즉시 점검·주의·확인 필요 사업 목록 (기준은 초안, 설정 가능)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사업 드릴다운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단계, 당초·변경 일정, 지연 개월, 관계기관 확인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자연어 질문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“수도권에서 착공이 3개월 이상 늦은 사업은?” → 요약과 근거 사업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일정 변경 입력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실무자 입력이 갱신일·출처와 함께 신호판에 반영</a:t>
            </a:r>
          </a:p>
        </p:txBody>
      </p:sp>
      <p:sp>
        <p:nvSpPr>
          <p:cNvPr id="19" name="USER1 판단 구분"/>
          <p:cNvSpPr/>
          <p:nvPr/>
        </p:nvSpPr>
        <p:spPr>
          <a:xfrm>
            <a:off x="521207" y="5577840"/>
            <a:ext cx="54864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E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54864"/>
          <a:lstStyle/>
          <a:p>
            <a:pPr algn="l"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ko-KR" altLang="en-US" sz="10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입력→처리→판단→출력  </a:t>
            </a: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일정·물량 → 단계 매핑·지연 계산 → 규칙+담당자 → 신호판·브리핑</a:t>
            </a:r>
          </a:p>
          <a:p>
            <a:pPr algn="l"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판단 구분  </a:t>
            </a: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사람: 기준 설정·조치 결정 / 규칙: 지연 분류 / AI: 변화 요약·근거 연결</a:t>
            </a:r>
          </a:p>
        </p:txBody>
      </p:sp>
      <p:sp>
        <p:nvSpPr>
          <p:cNvPr id="20" name="USER2 흐름"/>
          <p:cNvSpPr txBox="1"/>
          <p:nvPr/>
        </p:nvSpPr>
        <p:spPr>
          <a:xfrm>
            <a:off x="6245352" y="2286000"/>
            <a:ext cx="5394960" cy="32461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ko-KR" altLang="en-US" sz="10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내 지역 공급 소식과 받을 수 있는 공급을 알고 싶은 청년·신혼부부·무주택자, 군인 등 수요자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내 지역 선택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공급 지도에서 사업별 현재 단계(착공·모집 등) 확인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사업 상세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다음 단계와 예정 일정을 쉬운 말의 타임라인으로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공급 캘린더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향후 12개월 모집·준공·입주 예정 확인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자연어 질문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“30대 무주택 신혼부부가 받을 수 있는 공급은?” (필요 시 추가 질문 1~2개)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ko-KR" altLang="en-US" sz="105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후보와 근거 </a:t>
            </a:r>
            <a:r>
              <a:rPr lang="ko-KR" altLang="en-US" sz="105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— 해당될 수 있는 후보와 근거 공고 확인, 신청은 마이홈·청약홈으로 연결</a:t>
            </a:r>
          </a:p>
        </p:txBody>
      </p:sp>
      <p:sp>
        <p:nvSpPr>
          <p:cNvPr id="21" name="USER2 판단 구분"/>
          <p:cNvSpPr/>
          <p:nvPr/>
        </p:nvSpPr>
        <p:spPr>
          <a:xfrm>
            <a:off x="6199632" y="5577840"/>
            <a:ext cx="54864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E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54864"/>
          <a:lstStyle/>
          <a:p>
            <a:pPr algn="l"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ko-KR" altLang="en-US" sz="10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입력→처리→판단→출력  </a:t>
            </a: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자연어 질문 → 공고 검색·요약 → 본인 판단 → 후보+근거</a:t>
            </a:r>
          </a:p>
          <a:p>
            <a:pPr algn="l"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판단 구분  </a:t>
            </a: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사람: 자격 최종 판단(본인) / AI: 후보 검색·요약·근거 인용 / 자동 판정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/>
          <p:cNvSpPr/>
          <p:nvPr/>
        </p:nvSpPr>
        <p:spPr>
          <a:xfrm>
            <a:off x="1670817" y="770195"/>
            <a:ext cx="5486400" cy="29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정책 근거와 요구사항</a:t>
            </a:r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6400" y="1285112"/>
            <a:ext cx="11338560" cy="274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근거  </a:t>
            </a:r>
            <a:r>
              <a:rPr lang="ko-KR" altLang="en-US" sz="1400" b="1" dirty="0">
                <a:solidFill>
                  <a:srgbClr val="16171A"/>
                </a:solidFill>
                <a:latin typeface="Noto Sans KR Bold"/>
                <a:ea typeface="Noto Sans KR Bold"/>
              </a:rPr>
              <a:t>국민이 찾아다니는 구조에서, 국가가 공식 공급정보를 한곳에서 제공하는 구조로</a:t>
            </a:r>
          </a:p>
        </p:txBody>
      </p:sp>
      <p:graphicFrame>
        <p:nvGraphicFramePr>
          <p:cNvPr id="10" name="정책근거표"/>
          <p:cNvGraphicFramePr>
            <a:graphicFrameLocks noGrp="1"/>
          </p:cNvGraphicFramePr>
          <p:nvPr/>
        </p:nvGraphicFramePr>
        <p:xfrm>
          <a:off x="411480" y="1691640"/>
          <a:ext cx="11338560" cy="376732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417320"/>
                <a:gridCol w="5166360"/>
                <a:gridCol w="2331720"/>
                <a:gridCol w="2423160"/>
              </a:tblGrid>
              <a:tr h="36576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일자 · 계기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국무총리 지시 요지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도출 요구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POC 기능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08.14
제1차 점검회의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주택공급을 최우선 과제로 관리, 매주 현장 점검, 예정 일정이 이행되는지 관리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계획 대비 실적, 정기 보고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② 지연 판정·신호판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08.19
인천계양 점검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현황판 설치로 사업장별 밀착 관리, 입주 전 기반시설 점검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사업 단위 드릴다운, 지도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② 사업 상세 (기반시설은 확장)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09.03
제2차 점검회의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부처별 관리만으로는 전체 진행을 한눈에 보기 어려움, 막힌 부분을 직접 점검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기관 통합 현황, 지연 탐지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① 통합 DB, ② 신호판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09.04
동대문구 점검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공급계획을 공개 가능한 범위에서 미리 공개해 수요자의 예측가능성 제고 (1년 정도의 계획)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향후 공급 캘린더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② 캘린더 (국민용)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09.18
태릉지구 점검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약속한 착공 일정 준수, 단계별 추진상황 철저 관리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당초·변경 일정, 지연 개월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② 지연 판정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09.30
제3차 점검회의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가칭 ‘주택공급 디지털 상황판’ 조속 구현, 사업별 진행과 앞으로의 변화를 국민에게 쉽게 설명, 범정부 일관된 정보 제공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국민 공개, 쉬운 설명, 출처 표시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① 출처·기준일 표시, ③ 브리핑·안내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POC 기능과 확장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ko-KR" altLang="en-US" sz="10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POC 핵심 기능  </a:t>
            </a: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① 공급 데이터 수집·표준화   ② 일정 지연 판정·신호판   ③ 자연어 브리핑·안내</a:t>
            </a:r>
          </a:p>
          <a:p>
            <a:pPr algn="l"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확장(이번 POC 제외): 08.21 서울 자치구 협력 → 지자체·GH 데이터, 08.29 민간 재개발 → 민간 정비사업. 자료: 국무조정실·국무총리비서실 보도자료(2026.08.14~09.30), 요지만 인용하며 제출 전 원문 대조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/>
          <p:cNvSpPr/>
          <p:nvPr/>
        </p:nvSpPr>
        <p:spPr>
          <a:xfrm>
            <a:off x="1670817" y="770195"/>
            <a:ext cx="5486400" cy="29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유사 서비스 비교와 차별점</a:t>
            </a:r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6400" y="1285112"/>
            <a:ext cx="11338560" cy="274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E2604A"/>
                </a:solidFill>
                <a:latin typeface="Noto Sans KR Bold"/>
                <a:ea typeface="Noto Sans KR Bold"/>
              </a:rPr>
              <a:t xml:space="preserve">포지셔닝  </a:t>
            </a:r>
            <a:r>
              <a:rPr lang="ko-KR" altLang="en-US" sz="1400" b="1" dirty="0">
                <a:solidFill>
                  <a:srgbClr val="16171A"/>
                </a:solidFill>
                <a:latin typeface="Noto Sans KR Bold"/>
                <a:ea typeface="Noto Sans KR Bold"/>
              </a:rPr>
              <a:t>마이홈·청약홈을 대체하지 않는다. 신청은 연결하고, 우리는 진행 현황과 통합 탐색을 맡는다</a:t>
            </a:r>
          </a:p>
        </p:txBody>
      </p:sp>
      <p:graphicFrame>
        <p:nvGraphicFramePr>
          <p:cNvPr id="10" name="비교표"/>
          <p:cNvGraphicFramePr>
            <a:graphicFrameLocks noGrp="1"/>
          </p:cNvGraphicFramePr>
          <p:nvPr/>
        </p:nvGraphicFramePr>
        <p:xfrm>
          <a:off x="411480" y="1691640"/>
          <a:ext cx="11338560" cy="376732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554480"/>
                <a:gridCol w="2834640"/>
                <a:gridCol w="310896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비교 항목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마이홈포털 (국토부·LH)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KB부동산 데이터허브 (민간)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주택파동 (우리)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관점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모집공고·신청 중심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시장 통계 중심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계획부터 입주까지 사업 전 과정, 기관별 추적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주 사용자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국민(신청자)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투자·시장 참여자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정책 담당자와 국민, 하나의 데이터 위에서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사업 진행·지연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메뉴에서 확인되지 않음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인허가·착공·분양·준공을 호수로 집계, 사업 단위는 아님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당초·변경 일정, 지연 개월, 정상·주의·지연 신호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출처·기준일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공식 자료(국토부·LH)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민간·공공 통계 혼재, 출처는 표기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원천기관·기준일·갱신일·원문을 모든 수치에 표시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맞춤 안내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자가진단(약 5분 소요, 결과는 참고용), AI 챗봇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확인되지 않음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자연어 1회와 추가 질문 5개 이내, 후보와 근거 공고, 자동 판정 없음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담당자 입력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확인되지 않음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확인되지 않음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담당자 입력과 API·크롤링을 함께 사용, 갱신 이력 관리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DEDEA"/>
                    </a:solidFill>
                  </a:tcPr>
                </a:tc>
              </a:tr>
            </a:tbl>
          </a:graphicData>
        </a:graphic>
      </p:graphicFrame>
      <p:sp>
        <p:nvSpPr>
          <p:cNvPr id="11" name="비교 주석"/>
          <p:cNvSpPr txBox="1"/>
          <p:nvPr/>
        </p:nvSpPr>
        <p:spPr>
          <a:xfrm>
            <a:off x="411480" y="5897880"/>
            <a:ext cx="1133856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16171A"/>
                </a:solidFill>
                <a:latin typeface="Noto Sans KR Regular"/>
                <a:ea typeface="Noto Sans KR Regular"/>
              </a:rPr>
              <a:t>동등 수준만 맞추고 차별점으로 내세우지 않음: 지도, 검색, 공공데이터 개방, 데이터 다운로드</a:t>
            </a:r>
          </a:p>
          <a:p>
            <a:pPr algn="l"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확인 범위: 2026.10.02 기준 로그인 전 공개 화면. 로그인 후 기능과 마이홈 챗봇의 실제 동작은 확인하지 못함.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 Bold"/>
                <a:ea typeface="Noto Sans KR Bold"/>
              </a:rPr>
              <a:t>주택파동</a:t>
            </a:r>
          </a:p>
        </p:txBody>
      </p:sp>
      <p:sp>
        <p:nvSpPr>
          <p:cNvPr id="7" name="Text 5"/>
          <p:cNvSpPr/>
          <p:nvPr/>
        </p:nvSpPr>
        <p:spPr>
          <a:xfrm>
            <a:off x="1670817" y="770195"/>
            <a:ext cx="5486400" cy="29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16171A"/>
                </a:solidFill>
                <a:latin typeface="Noto Sans KR Bold"/>
                <a:ea typeface="Noto Sans KR Bold"/>
              </a:rPr>
              <a:t>평가 기준 대응 계획</a:t>
            </a:r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6400" y="1285112"/>
            <a:ext cx="11338560" cy="274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6171A"/>
                </a:solidFill>
                <a:latin typeface="Noto Sans KR Bold"/>
                <a:ea typeface="Noto Sans KR Bold"/>
              </a:rPr>
              <a:t xml:space="preserve">평가 5개 항목(각 1~5점)에 맞춰 보여줄 근거 </a:t>
            </a:r>
            <a:r>
              <a:rPr lang="ko-KR" altLang="en-US" sz="120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— 목표값은 초안이며 팀 합의가 필요</a:t>
            </a:r>
          </a:p>
        </p:txBody>
      </p:sp>
      <p:graphicFrame>
        <p:nvGraphicFramePr>
          <p:cNvPr id="10" name="평가대응표"/>
          <p:cNvGraphicFramePr>
            <a:graphicFrameLocks noGrp="1"/>
          </p:cNvGraphicFramePr>
          <p:nvPr/>
        </p:nvGraphicFramePr>
        <p:xfrm>
          <a:off x="411480" y="1691640"/>
          <a:ext cx="11338560" cy="3931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8800"/>
                <a:gridCol w="731520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평가 항목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보여줄 근거 (계획)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oto Sans KR Bold"/>
                          <a:ea typeface="Noto Sans KR Bold"/>
                        </a:rPr>
                        <a:t>팀이 확정할 것</a:t>
                      </a:r>
                    </a:p>
                  </a:txBody>
                  <a:tcPr marL="73152" marR="73152" marT="45720" marB="45720" anchor="ctr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1. 기술부채 관리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핵심 기능 3개를 입력→처리→판단→출력으로 설명. 사람·규칙·AI 판단을 구분하고, 6단계→4단계 롤업 규칙과 기술 선택 이유를 문서화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롤업 규칙, 담당 설명자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2. 검증 가능성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공고 PDF·가상 기관 데이터로 평가셋 구성. 지연 판정은 Precision·Recall, 브리핑 수치는 DB 집계와 자동 대조, 국민 답변은 근거 인용 정확도와 범위 밖 질문 거절 확인. 사람·다른 모델 교차검증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평가셋 규모, 지표 목표값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3. 기술적 도전성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비정형 공고 PDF 구조화와 근거 인용형 자연어 응답을 단순 조회형 대시보드와 비교. 실패 사례와 배운 점도 기록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비교 실험 설계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4. 현장 적용성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실행·설치 절차, 사용 데이터·환경 명시. 공개 API·크롤링 기반 외부망 전제를 밝히고, 모델 교체 구조로 폐쇄망 대안 설계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폐쇄망 대안 범위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16171A"/>
                          </a:solidFill>
                          <a:latin typeface="Noto Sans KR Bold"/>
                          <a:ea typeface="Noto Sans KR Bold"/>
                        </a:rPr>
                        <a:t>5. 팀 내재화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팀원 2명 이상이 핵심 구조를 설명, 다른 팀원이 직접 실행·수정. 환경변수·데이터 위치·의존성을 공유 문서에 정리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16171A"/>
                          </a:solidFill>
                          <a:latin typeface="Noto Sans KR Regular"/>
                          <a:ea typeface="Noto Sans KR Regular"/>
                        </a:rPr>
                        <a:t>역할 분담, 담당자 지정</a:t>
                      </a:r>
                    </a:p>
                  </a:txBody>
                  <a:tcPr marL="73152" marR="73152" marT="45720" marB="45720" anchor="t">
                    <a:lnL w="6350" cap="flat" cmpd="sng">
                      <a:solidFill>
                        <a:srgbClr val="DEDCD3"/>
                      </a:solidFill>
                      <a:prstDash val="solid"/>
                    </a:lnL>
                    <a:lnR w="6350" cap="flat" cmpd="sng">
                      <a:solidFill>
                        <a:srgbClr val="DEDCD3"/>
                      </a:solidFill>
                      <a:prstDash val="solid"/>
                    </a:lnR>
                    <a:lnT w="6350" cap="flat" cmpd="sng">
                      <a:solidFill>
                        <a:srgbClr val="DEDCD3"/>
                      </a:solidFill>
                      <a:prstDash val="solid"/>
                    </a:lnT>
                    <a:lnB w="6350" cap="flat" cmpd="sng">
                      <a:solidFill>
                        <a:srgbClr val="DEDC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범위 한계"/>
          <p:cNvSpPr txBox="1"/>
          <p:nvPr/>
        </p:nvSpPr>
        <p:spPr>
          <a:xfrm>
            <a:off x="411480" y="6309360"/>
            <a:ext cx="1133856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5A5C61"/>
                </a:solidFill>
                <a:latin typeface="Noto Sans KR Regular"/>
                <a:ea typeface="Noto Sans KR Regular"/>
              </a:rPr>
              <a:t>자연어 기능은 PoC 확장성 이슈가 있어 소량 코퍼스(SH·LH·국방부 공고)로 한정하고, 한계를 함께 공개한다.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</Words>
  <Application>Microsoft Macintosh PowerPoint</Application>
  <PresentationFormat>와이드스크린</PresentationFormat>
  <Paragraphs>32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Noto Sans KR</vt:lpstr>
      <vt:lpstr>Noto Sans KR Bold</vt:lpstr>
      <vt:lpstr>Noto Sans KR Regular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서비스 기획서 발표 템플릿</dc:title>
  <dc:subject>PptxGenJS Presentation</dc:subject>
  <dc:creator>PptxGenJS</dc:creator>
  <cp:lastModifiedBy>Yongjae Kim</cp:lastModifiedBy>
  <cp:revision>4</cp:revision>
  <dcterms:created xsi:type="dcterms:W3CDTF">2026-09-17T08:05:47Z</dcterms:created>
  <dcterms:modified xsi:type="dcterms:W3CDTF">2026-09-17T08:17:26Z</dcterms:modified>
</cp:coreProperties>
</file>